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/>
          <p:nvPr>
            <p:ph idx="2" type="sldImg"/>
          </p:nvPr>
        </p:nvSpPr>
        <p:spPr>
          <a:xfrm>
            <a:off x="1374840" y="1336680"/>
            <a:ext cx="4809960" cy="360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:notes"/>
          <p:cNvSpPr txBox="1"/>
          <p:nvPr>
            <p:ph idx="12" type="sldNum"/>
          </p:nvPr>
        </p:nvSpPr>
        <p:spPr>
          <a:xfrm>
            <a:off x="4281480" y="10155240"/>
            <a:ext cx="327636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:notes"/>
          <p:cNvSpPr txBox="1"/>
          <p:nvPr>
            <p:ph idx="11" type="ftr"/>
          </p:nvPr>
        </p:nvSpPr>
        <p:spPr>
          <a:xfrm>
            <a:off x="0" y="10155240"/>
            <a:ext cx="327636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of the faculty [Group: G00] [Sem:2nd]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90d0773a_0_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790d0773a_0_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790d0773a_0_1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790d0773a_0_17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360" y="6705000"/>
            <a:ext cx="9143280" cy="1972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google.com/search?q=https://doi.org/10.3389/frai.2022.955314" TargetMode="External"/><Relationship Id="rId4" Type="http://schemas.openxmlformats.org/officeDocument/2006/relationships/hyperlink" Target="https://www.google.com/search?q=https://doi.org/10.3389/frai.2022.955314" TargetMode="External"/><Relationship Id="rId5" Type="http://schemas.openxmlformats.org/officeDocument/2006/relationships/hyperlink" Target="https://www.google.com/search?q=https://doi.org/10.3390/info15120786" TargetMode="External"/><Relationship Id="rId6" Type="http://schemas.openxmlformats.org/officeDocument/2006/relationships/hyperlink" Target="https://www.google.com/search?q=https://doi.org/10.3390/info15120786" TargetMode="External"/><Relationship Id="rId7" Type="http://schemas.openxmlformats.org/officeDocument/2006/relationships/hyperlink" Target="https://www.google.com/search?q=https://doi.org/10.1186/s40537-016-0041-8" TargetMode="External"/><Relationship Id="rId8" Type="http://schemas.openxmlformats.org/officeDocument/2006/relationships/hyperlink" Target="https://www.google.com/search?q=https://doi.org/10.1186/s40537-016-0041-8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0" y="840600"/>
            <a:ext cx="9143640" cy="5721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Customer Value Management Framework for Personalized Campaign Optimization</a:t>
            </a:r>
            <a:endParaRPr b="0" i="0" sz="3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</a:pPr>
            <a:b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Anand Kaushik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	 2210990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107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Ashish Kumar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-1519200" y="0"/>
            <a:ext cx="60192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0" y="837360"/>
            <a:ext cx="883830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99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Modern platforms manage large and varied customer bases with ever-evolving behavior patterns.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Telecommunications: Focus primarily on lowering customer churn rate and increasing the Average Revenue Per User (ARPU).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E-commerce: Aim to improve the rate at which customers return and the frequency of their purchases.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Legacy Customer Value Management (CVM) techniques fail to scale with the volume and complexity of modern data, requiring a shift towards 'intelligent CVM'.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-1519200" y="0"/>
            <a:ext cx="60192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553080" y="6356520"/>
            <a:ext cx="2133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0" y="837360"/>
            <a:ext cx="883830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/>
              <a:t>Legacy System Limitations: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99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Static Segmentation: Legacy systems rely heavily on statically segmented customer groups based on rigid rules and broad demographic buckets.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Slow Responsiveness: Rule-based systems are extremely slow to respond to rapid changes in real-time customer behavior.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Poor Churn Identification: They struggle with proactive and accurate identification of high-risk churn candidates.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Untargeted Offer Delivery: Generic offer generation leads to inefficient marketing resource utilization and reduced cross-selling potential.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-979200" y="0"/>
            <a:ext cx="60192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0" y="1080000"/>
            <a:ext cx="8838360" cy="41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common pain points and revenue leaks present in existing rule-based CVM pipelines.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static segmentation with dynamic, ML based customer profiling.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churn using different machine learning models (Random Forest, XGBoost).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gain in domain specific KPIs (Conversion Rate, ARPU, Churn Rate, etc) using the optimized framework.Detect common pain points and revenue leaks present in existing rule-based CVM pipelines.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-1620000" y="0"/>
            <a:ext cx="60192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0" y="1080000"/>
            <a:ext cx="883836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Detect Pain Points: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Identify common revenue leaks and limitations present in existing rule-based CVM pipelines used in enterprise environments.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Unified Framework: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Create a scalable, domain-independent AI framework that is highly applicable for both telecommunications and e-commerce datasets.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KPI Optimization: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Analyze and quantify the gains in domain-specific KPIs like Conversion Rate, ARPU, and Churn Rate using dynamic predictive modeling.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97200" y="0"/>
            <a:ext cx="65628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&amp; Methodology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Proposed Pipeline Architecture: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99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Ingestion &amp; Processing</a:t>
            </a:r>
            <a:endParaRPr sz="2000"/>
          </a:p>
          <a:p>
            <a:pPr indent="0" lvl="0" marL="457200" rtl="0" algn="l">
              <a:spcBef>
                <a:spcPts val="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Real-time gathering of behavioral logs and transaction history. Apache Spark handles large-scale ETL pipelines, data cleaning, and complex feature engineering.</a:t>
            </a:r>
            <a:endParaRPr sz="2000"/>
          </a:p>
          <a:p>
            <a:pPr indent="-355600" lvl="0" marL="457200" rtl="0" algn="l">
              <a:spcBef>
                <a:spcPts val="99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Storage &amp; Intelligence</a:t>
            </a:r>
            <a:endParaRPr sz="2000"/>
          </a:p>
          <a:p>
            <a:pPr indent="0" lvl="0" marL="457200" rtl="0" algn="l">
              <a:spcBef>
                <a:spcPts val="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Structured data stored robustly in PostgreSQL. Machine Learning models execute dynamic customer segmentation, churn prediction, and purchase propensity scoring.</a:t>
            </a:r>
            <a:endParaRPr sz="2000"/>
          </a:p>
          <a:p>
            <a:pPr indent="-355600" lvl="0" marL="457200" rtl="0" algn="l">
              <a:spcBef>
                <a:spcPts val="99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Action Layer</a:t>
            </a:r>
            <a:endParaRPr sz="2000"/>
          </a:p>
          <a:p>
            <a:pPr indent="0" lvl="0" marL="457200" rtl="0" algn="l">
              <a:spcBef>
                <a:spcPts val="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Matches optimal probability scores to generate highly personalized campaigns, seamlessly distributing targeted offers to customers via SMS, Email, and App.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-442800" y="0"/>
            <a:ext cx="78228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&amp; Methodology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161640" y="1080000"/>
            <a:ext cx="883836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&amp; Processing Engine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foundation is built for unparalleled scale and reliability.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Apache Spark: Used extensively for its robust real-time data processing capabilities and massive-scale feature engineering.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Python: Drives the core logic, scripting, and pipeline orchestration.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PostgreSQL: Serves as the reliable feature store and relational data warehouse for processed structured data.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-442800" y="0"/>
            <a:ext cx="78228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&amp; Methodology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6553080" y="6356520"/>
            <a:ext cx="2133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161640" y="1080000"/>
            <a:ext cx="883830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&amp; Analytics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Machine Learning: Utilizes Scikit-Learn, XGBoost, and CatBoost for calculating precise churn risks and offer propensity scores.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Visualization: Matplotlib and Seaborn are employed for performance monitoring, tracking essential KPIs like AUC and Recall over time.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-799200" y="0"/>
            <a:ext cx="60192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Discussion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161640" y="1080000"/>
            <a:ext cx="883830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Conversion Lift: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Leveraging XGBoost propensity scores for personalized targeting generated a massive +171% boost in offer acceptance over generic mass marketing.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Proactive Retention: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framework successfully identified 89% of likely churners, shifting strategies from reactive recovery to proactive retention.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9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Domain Generalization: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The feature engineering and predictive processes successfully generalized across entirely different datasets (telecom usage vs. e-commerce transactions)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-360000" y="0"/>
            <a:ext cx="60192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 b="0" i="0" sz="19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Times New Roman"/>
              <a:buChar char="●"/>
            </a:pPr>
            <a:r>
              <a:rPr b="1" i="0" lang="en-US" sz="19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9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54267" lvl="1" marL="914400" rtl="0" algn="l">
              <a:spcBef>
                <a:spcPts val="99"/>
              </a:spcBef>
              <a:spcAft>
                <a:spcPts val="0"/>
              </a:spcAft>
              <a:buSzPts val="1979"/>
              <a:buFont typeface="Times New Roman"/>
              <a:buChar char="○"/>
            </a:pPr>
            <a:r>
              <a:rPr lang="en-US" sz="1980">
                <a:latin typeface="Times New Roman"/>
                <a:ea typeface="Times New Roman"/>
                <a:cs typeface="Times New Roman"/>
                <a:sym typeface="Times New Roman"/>
              </a:rPr>
              <a:t>AI-driven Customer Value Management provides a distinct advantage over traditional enterprise workflows.</a:t>
            </a:r>
            <a:endParaRPr sz="1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267" lvl="1" marL="914400" rtl="0" algn="l">
              <a:spcBef>
                <a:spcPts val="99"/>
              </a:spcBef>
              <a:spcAft>
                <a:spcPts val="0"/>
              </a:spcAft>
              <a:buSzPts val="1979"/>
              <a:buFont typeface="Times New Roman"/>
              <a:buChar char="○"/>
            </a:pPr>
            <a:r>
              <a:rPr lang="en-US" sz="1980">
                <a:latin typeface="Times New Roman"/>
                <a:ea typeface="Times New Roman"/>
                <a:cs typeface="Times New Roman"/>
                <a:sym typeface="Times New Roman"/>
              </a:rPr>
              <a:t>Drives significant increases in customer retention and campaign conversion throughput.</a:t>
            </a:r>
            <a:endParaRPr sz="1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267" lvl="1" marL="914400" rtl="0" algn="l">
              <a:spcBef>
                <a:spcPts val="99"/>
              </a:spcBef>
              <a:spcAft>
                <a:spcPts val="0"/>
              </a:spcAft>
              <a:buSzPts val="1979"/>
              <a:buFont typeface="Times New Roman"/>
              <a:buChar char="○"/>
            </a:pPr>
            <a:r>
              <a:rPr lang="en-US" sz="1980">
                <a:latin typeface="Times New Roman"/>
                <a:ea typeface="Times New Roman"/>
                <a:cs typeface="Times New Roman"/>
                <a:sym typeface="Times New Roman"/>
              </a:rPr>
              <a:t>Replaces single catch-all algorithms with scalable, hyper-local Spark models.</a:t>
            </a:r>
            <a:endParaRPr sz="1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267" lvl="1" marL="914400" rtl="0" algn="l">
              <a:spcBef>
                <a:spcPts val="99"/>
              </a:spcBef>
              <a:spcAft>
                <a:spcPts val="0"/>
              </a:spcAft>
              <a:buSzPts val="1979"/>
              <a:buFont typeface="Times New Roman"/>
              <a:buChar char="○"/>
            </a:pPr>
            <a:r>
              <a:rPr lang="en-US" sz="1980">
                <a:latin typeface="Times New Roman"/>
                <a:ea typeface="Times New Roman"/>
                <a:cs typeface="Times New Roman"/>
                <a:sym typeface="Times New Roman"/>
              </a:rPr>
              <a:t>Provides a domain-agnostic, easily deployable architecture suitable for leading digital platforms.</a:t>
            </a:r>
            <a:endParaRPr sz="1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 b="0" i="0" sz="198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Times New Roman"/>
              <a:buChar char="●"/>
            </a:pPr>
            <a:r>
              <a:rPr b="1" i="0" lang="en-US" sz="19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b="1" i="0" sz="198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99"/>
              </a:spcBef>
              <a:spcAft>
                <a:spcPts val="0"/>
              </a:spcAft>
              <a:buNone/>
            </a:pPr>
            <a:r>
              <a:rPr lang="en-US" sz="1980">
                <a:latin typeface="Times New Roman"/>
                <a:ea typeface="Times New Roman"/>
                <a:cs typeface="Times New Roman"/>
                <a:sym typeface="Times New Roman"/>
              </a:rPr>
              <a:t>The next iteration aims to further minimize latency and automate optimization.</a:t>
            </a:r>
            <a:endParaRPr b="1" sz="1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267" lvl="1" marL="914400" rtl="0" algn="l">
              <a:spcBef>
                <a:spcPts val="99"/>
              </a:spcBef>
              <a:spcAft>
                <a:spcPts val="0"/>
              </a:spcAft>
              <a:buSzPts val="1979"/>
              <a:buFont typeface="Times New Roman"/>
              <a:buChar char="○"/>
            </a:pPr>
            <a:r>
              <a:rPr lang="en-US" sz="1980">
                <a:latin typeface="Times New Roman"/>
                <a:ea typeface="Times New Roman"/>
                <a:cs typeface="Times New Roman"/>
                <a:sym typeface="Times New Roman"/>
              </a:rPr>
              <a:t>Real-Time Streaming: Integrating Apache Kafka to instantly trigger localized offer-recommendations upon live user events.</a:t>
            </a:r>
            <a:endParaRPr sz="1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267" lvl="1" marL="914400" rtl="0" algn="l">
              <a:spcBef>
                <a:spcPts val="99"/>
              </a:spcBef>
              <a:spcAft>
                <a:spcPts val="0"/>
              </a:spcAft>
              <a:buSzPts val="1979"/>
              <a:buFont typeface="Times New Roman"/>
              <a:buChar char="○"/>
            </a:pPr>
            <a:r>
              <a:rPr lang="en-US" sz="1980">
                <a:latin typeface="Times New Roman"/>
                <a:ea typeface="Times New Roman"/>
                <a:cs typeface="Times New Roman"/>
                <a:sym typeface="Times New Roman"/>
              </a:rPr>
              <a:t>Continuous Learning: Exploring Deep Reinforcement Learning for closed-loop, continuous campaign optimization without human intervention.</a:t>
            </a:r>
            <a:endParaRPr sz="19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t/>
            </a:r>
            <a:endParaRPr sz="19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-1699200" y="0"/>
            <a:ext cx="6019200" cy="8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0" y="837360"/>
            <a:ext cx="8838360" cy="4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74800" lvl="0" marL="45720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Abdul Razak, M. S., Nirmala, C. R., Sreenivasa, B. R., Lahza, H., &amp; Lahza, H. F. M. (2023). A survey on detecting healthcare concept drift in AI/ML models from a finance perspective.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Frontiers in Artificial Intelligence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https://doi.org/10.3389/frai.2022.955314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Hovakimyan, G., &amp; Bravo, J. M. (2024). Evolving Strategies in Machine Learning: A Systematic Review of Concept Drift Detection.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(12), 786.</a:t>
            </a: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https://doi.org/10.3390/info15120786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Pääkkönen, P. (2016). Feasibility analysis of AsterixDB and Spark streaming with Cassandra for stream-based processing.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Big Data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(1).</a:t>
            </a: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https://doi.org/10.1186/s40537-016-0041-8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